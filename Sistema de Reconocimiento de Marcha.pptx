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Open Sans SemiBold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D853D4-E3EF-45E4-B3B1-6D6E63E5118D}">
  <a:tblStyle styleId="{EAD853D4-E3EF-45E4-B3B1-6D6E63E5118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italic.fntdata"/><Relationship Id="rId30" Type="http://schemas.openxmlformats.org/officeDocument/2006/relationships/font" Target="fonts/OpenSansSemiBold-bold.fntdata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OpenSans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20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9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35.png"/><Relationship Id="rId7" Type="http://schemas.openxmlformats.org/officeDocument/2006/relationships/image" Target="../media/image24.png"/><Relationship Id="rId8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31.png"/><Relationship Id="rId6" Type="http://schemas.openxmlformats.org/officeDocument/2006/relationships/image" Target="../media/image39.png"/><Relationship Id="rId7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11" Type="http://schemas.openxmlformats.org/officeDocument/2006/relationships/image" Target="../media/image40.png"/><Relationship Id="rId10" Type="http://schemas.openxmlformats.org/officeDocument/2006/relationships/image" Target="../media/image26.png"/><Relationship Id="rId9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34.png"/><Relationship Id="rId7" Type="http://schemas.openxmlformats.org/officeDocument/2006/relationships/image" Target="../media/image30.png"/><Relationship Id="rId8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5715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Open Sans"/>
                <a:ea typeface="Open Sans"/>
                <a:cs typeface="Open Sans"/>
                <a:sym typeface="Open Sans"/>
              </a:rPr>
              <a:t>VISIÓN POR COMPUTADORA &amp; IA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95275" y="857250"/>
            <a:ext cx="116014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Reconocimiento de Marcha para Asistencia Automatizada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253365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un sistema biométrico no intrusivo mediante análisis de siluetas dinámicas.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45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" y="4700587"/>
            <a:ext cx="5238750" cy="85725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14375" y="484346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Reto: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Identificar identidades de forma pasiva mientras los sujetos caminan hacia su lugar.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4700587"/>
            <a:ext cx="47625" cy="8572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1952625"/>
            <a:ext cx="5162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04875" y="208121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Ineficiencia Temporal: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Pérdida de 5-10 min por sesión educativa.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27955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Error Humano: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Falta de precisión en registros manuales.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5099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Suplantación: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Facilidad de firmar por otros alumnos.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39385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Intrusión: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Interrupción del flujo natural de entrada a clase.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EL PROBLEMA DE LA ASISTENCIA MANUAL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81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95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9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858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1250"/>
            <a:ext cx="3492549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81250"/>
            <a:ext cx="3492549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81250"/>
            <a:ext cx="3492549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57250" y="3429000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Ventajas de la Marcha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3829050"/>
            <a:ext cx="29210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Funciona a larga distancia, de espaldas, con oclusiones (cubrebocas/mochila) y sin cooperación activa.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35549" y="3429000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Desventajas Faciales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35549" y="3829050"/>
            <a:ext cx="29210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Requiere alta resolución, iluminación controlada y que el sujeto mire directamente a la cámara.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13849" y="3429000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Seguridad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13849" y="3829050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La dinámica de marcha es difícil de falsificar en comparación con una fotografía estática.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90825"/>
            <a:ext cx="2381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7908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790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MARCHA (GAIT) VS. RECONOCIMIENTO FACIAL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45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952625"/>
            <a:ext cx="5162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477000" y="4595812"/>
            <a:ext cx="5048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Restricción: Dataset estático e inmutable (no re-grabable).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15125" y="235743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Población: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19 sujetos (estudiantes universitarios).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15125" y="27860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Hardware: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Cámara Logitech C920 (1080p, ~30 fps).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15125" y="32146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Vista: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Lateral fija a 90° (Escenario controlado).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15125" y="364331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Variabilidad: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2 Sesiones (Paso normal vs. Paso rápido).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15125" y="407193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Volumen: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~120 secuencias totales (~4 por sujeto).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ESPECIFICACIONES DEL DATASET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357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786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2146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643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719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8850"/>
            <a:ext cx="331470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1950" y="2228850"/>
            <a:ext cx="331470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0" y="2228850"/>
            <a:ext cx="331470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05275"/>
            <a:ext cx="331470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1950" y="4105275"/>
            <a:ext cx="331470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72400" y="4105275"/>
            <a:ext cx="331470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57250" y="2562225"/>
            <a:ext cx="28803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F0: Auditoría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57250" y="2962275"/>
            <a:ext cx="2743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Evaluación de calidad del dataset.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457700" y="2562225"/>
            <a:ext cx="28803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F1: Extracción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457700" y="2962275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Siluetas + Keypoints RTMPose.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058150" y="2562225"/>
            <a:ext cx="28803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F2: Formato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058150" y="2962275"/>
            <a:ext cx="2743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Estandarización a PKL OpenGait.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57250" y="4438650"/>
            <a:ext cx="28803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F3: Fine-tuning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57250" y="4838700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Entrenamiento de GaitBase.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457700" y="4438650"/>
            <a:ext cx="28803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F4: Multimodal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457700" y="4838700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Intento de fusión (descartado).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058150" y="4438650"/>
            <a:ext cx="28803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F5: Open-set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058150" y="4838700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Calibración de umbrales.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DIVISIÓN DEL PROBLEMA EN 7 FASES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18"/>
          <p:cNvGraphicFramePr/>
          <p:nvPr/>
        </p:nvGraphicFramePr>
        <p:xfrm>
          <a:off x="571500" y="2771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{EAD853D4-E3EF-45E4-B3B1-6D6E63E5118D}</a:tableStyleId>
              </a:tblPr>
              <a:tblGrid>
                <a:gridCol w="1738750"/>
                <a:gridCol w="1316075"/>
                <a:gridCol w="4516200"/>
                <a:gridCol w="3477975"/>
              </a:tblGrid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Conjunto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 Sujetos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Nombres (Ejemplos)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Propósito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Entrenamiento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JoseFelix, CesarVasquez, LuisLopez...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Ajuste de pesos del modelo.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Validación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HectorSanchez, CarlosTorres, RobertPereira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Selección del mejor checkpoint.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Prueba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JesusValenzuela, AlexBojorquez, RicardoMora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Evaluación de generalización final.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18"/>
          <p:cNvSpPr txBox="1"/>
          <p:nvPr/>
        </p:nvSpPr>
        <p:spPr>
          <a:xfrm>
            <a:off x="571500" y="47720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262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¡Regla de Oro! El modelo nunca ve a los sujetos de prueba durante el entrenamiento.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3671887"/>
            <a:ext cx="1738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310258" y="3671887"/>
            <a:ext cx="1316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626346" y="3671887"/>
            <a:ext cx="4516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142535" y="3671887"/>
            <a:ext cx="3477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1500" y="4119562"/>
            <a:ext cx="1738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2310258" y="4119562"/>
            <a:ext cx="1316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626346" y="4119562"/>
            <a:ext cx="4516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142535" y="4119562"/>
            <a:ext cx="3477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71500" y="4567237"/>
            <a:ext cx="1738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2310258" y="4567237"/>
            <a:ext cx="1316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3626346" y="4567237"/>
            <a:ext cx="4516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142535" y="4567237"/>
            <a:ext cx="3477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SUBJECT-DISJOINT DATASET SPLIT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287178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Basados en Silueta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71500" y="33385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Usa máscaras binarias del cuerpo. Es el estándar actual por su robustez y precisión en entornos controlados.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381750" y="287178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Basados en Pose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381750" y="33385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Utiliza coordenadas de esqueleto (keypoints). Teóricamente invariante a la ropa.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04875" y="391001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Captura la forma y el volumen.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904875" y="433863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SOTA en CASIA-B y Gait3D.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715125" y="391001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Captura solo la dinámica articular.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715125" y="433863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Sufre ante oclusiones y ruido de detección.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SILUETA (APARIENCIA) VS. POSE (MODELO)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10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38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910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3386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0" name="Google Shape;210;p20"/>
          <p:cNvGraphicFramePr/>
          <p:nvPr/>
        </p:nvGraphicFramePr>
        <p:xfrm>
          <a:off x="571500" y="2786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{EAD853D4-E3EF-45E4-B3B1-6D6E63E5118D}</a:tableStyleId>
              </a:tblPr>
              <a:tblGrid>
                <a:gridCol w="2594225"/>
                <a:gridCol w="1875225"/>
                <a:gridCol w="3875625"/>
                <a:gridCol w="2703900"/>
              </a:tblGrid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Entorno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Complejidad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Métrica GaitBase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CASIA-B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Laboratorio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 ángulos, 3 ropas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&gt;95% Rank-1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Gait3D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In-the-wild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4000 sujetos, cámaras reales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~75% Rank-1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GREW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In-the-wild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26k sujetos, exterior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~60% Rank-1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Nuestro Proyecto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Indoor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 sujetos, 90° lateral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94.4% Rank-1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20"/>
          <p:cNvSpPr/>
          <p:nvPr/>
        </p:nvSpPr>
        <p:spPr>
          <a:xfrm>
            <a:off x="571500" y="3686175"/>
            <a:ext cx="2594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165723" y="3686175"/>
            <a:ext cx="1875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040957" y="3686175"/>
            <a:ext cx="3875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8916590" y="3686175"/>
            <a:ext cx="2703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71500" y="4133850"/>
            <a:ext cx="2594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165723" y="4133850"/>
            <a:ext cx="1875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040957" y="4133850"/>
            <a:ext cx="3875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8916590" y="4133850"/>
            <a:ext cx="2703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71500" y="4581525"/>
            <a:ext cx="2594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165723" y="4581525"/>
            <a:ext cx="1875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040957" y="4581525"/>
            <a:ext cx="3875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916590" y="4581525"/>
            <a:ext cx="2703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71500" y="5029200"/>
            <a:ext cx="2594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3165723" y="5029200"/>
            <a:ext cx="1875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040957" y="5029200"/>
            <a:ext cx="3875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8916590" y="5029200"/>
            <a:ext cx="2703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BENCHMARKS GLOBALES DE REFERENCIA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571500"/>
            <a:ext cx="52006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MODELO BASE: GAITBASE</a:t>
            </a:r>
            <a:endParaRPr/>
          </a:p>
        </p:txBody>
      </p:sp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904875" y="1847850"/>
            <a:ext cx="4619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Baseline de OpenGait: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(Fan et al., CVPR 2023).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904875" y="2276475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Feature Extractor: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ResNet9 modificado para siluetas.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04875" y="2990850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Temporal Pooling: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Condensación de secuencias en un solo descriptor.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04875" y="3705225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HPP: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Horizontal Pooling Pyramid para capturar detalles locales (cabeza, torso, pies).</a:t>
            </a:r>
            <a:endParaRPr/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47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76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90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052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4125"/>
            <a:ext cx="349254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24125"/>
            <a:ext cx="349254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24125"/>
            <a:ext cx="3492549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857250" y="3571875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Ángulo Lateral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57250" y="3971925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90°, las extremidades se solapan. Los keypoints pierden dimensionalidad crítica.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635549" y="3571875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Dataset Pequeño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635549" y="3971925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Las redes de pose requieren miles de ejemplos para no sobreajustarse al ruido.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413849" y="3571875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Resultados Empíricos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413849" y="3971925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Al optimizar pesos de fusión, el modelo asignó peso 0 a la rama de pose.</a:t>
            </a:r>
            <a:endParaRPr/>
          </a:p>
        </p:txBody>
      </p:sp>
      <p:pic>
        <p:nvPicPr>
          <p:cNvPr descr="image.png" id="257" name="Google Shape;25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9337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9337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9337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¿POR QUÉ DESCARTAMOS LA POSE?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355181"/>
            <a:ext cx="5238750" cy="92868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571500" y="278130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Initial Weights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571500" y="324802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Partimos de un modelo preentrenado en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Gait3D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(4,000 sujetos).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71500" y="381952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Multi-session Training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428625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Entrenamos con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S1+S2 combinadas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 Forzamos al modelo a aprender la dinámica de marcha, no la ropa ni la velocidad.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450806" y="3545681"/>
            <a:ext cx="510063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Función de Pérdida Combinada</a:t>
            </a:r>
            <a:endParaRPr/>
          </a:p>
        </p:txBody>
      </p:sp>
      <p:pic>
        <p:nvPicPr>
          <p:cNvPr descr="image.png" id="272" name="Google Shape;27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3850481"/>
            <a:ext cx="4857750" cy="24288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ESTRATEGIA DE TRANSFER LEARNING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9" name="Google Shape;279;p24"/>
          <p:cNvGraphicFramePr/>
          <p:nvPr/>
        </p:nvGraphicFramePr>
        <p:xfrm>
          <a:off x="571500" y="2786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{EAD853D4-E3EF-45E4-B3B1-6D6E63E5118D}</a:tableStyleId>
              </a:tblPr>
              <a:tblGrid>
                <a:gridCol w="2256825"/>
                <a:gridCol w="3233725"/>
                <a:gridCol w="5558425"/>
              </a:tblGrid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Parámetro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Justificación Técnica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Optimizador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SGD (Momentum 0.9)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Mejor convergencia para Triplet Loss.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Learning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Estándar SOTA para GaitBase.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Batch Size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 Id x 2 Seq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Control de varianza intra-batch.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Iteraciones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1200 (Early Stop)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Prevenir overfitting al dataset pequeño.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80" name="Google Shape;280;p24"/>
          <p:cNvSpPr/>
          <p:nvPr/>
        </p:nvSpPr>
        <p:spPr>
          <a:xfrm>
            <a:off x="571500" y="3686175"/>
            <a:ext cx="2256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2828329" y="3686175"/>
            <a:ext cx="3233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6062067" y="3686175"/>
            <a:ext cx="55584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571500" y="4133850"/>
            <a:ext cx="2256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2828329" y="4133850"/>
            <a:ext cx="3233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6062067" y="4133850"/>
            <a:ext cx="55584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571500" y="4581525"/>
            <a:ext cx="2256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2828329" y="4581525"/>
            <a:ext cx="3233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6062067" y="4581525"/>
            <a:ext cx="55584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571500" y="5029200"/>
            <a:ext cx="2256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2828329" y="5029200"/>
            <a:ext cx="3233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6062067" y="5029200"/>
            <a:ext cx="55584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CONFIGURACIÓN DEL EXPERIMENTO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52550"/>
            <a:ext cx="11049000" cy="49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762000" y="4343400"/>
            <a:ext cx="1085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Análisis: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El único error recurrente ocurre entre sujetos con complexión física casi idéntica (Ricardo Mora vs Hector Sanchez).</a:t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571500" y="4343400"/>
            <a:ext cx="47625" cy="571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RESULTADOS CLOSED-SET (RANK-1)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145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33837"/>
            <a:ext cx="52387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850" y="1952625"/>
            <a:ext cx="5162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904875" y="27479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EER (Equal Error Rate):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8.11%.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904875" y="31765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TAR @ FAR=0%: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86.49%.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904875" y="360521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Umbral τ: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0.9847.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OPEN-SET: EL DESAFÍO DEL DESCONOCIDO</a:t>
            </a:r>
            <a:endParaRPr/>
          </a:p>
        </p:txBody>
      </p:sp>
      <p:pic>
        <p:nvPicPr>
          <p:cNvPr descr="image.png" id="314" name="Google Shape;31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47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76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052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1775"/>
            <a:ext cx="110490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3457575"/>
            <a:ext cx="20193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33700" y="3457575"/>
            <a:ext cx="20193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6350" y="3457575"/>
            <a:ext cx="20193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9000" y="3457575"/>
            <a:ext cx="20193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91650" y="3457575"/>
            <a:ext cx="201930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 txBox="1"/>
          <p:nvPr/>
        </p:nvSpPr>
        <p:spPr>
          <a:xfrm>
            <a:off x="571500" y="461010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Tiempo total de identificación: </a:t>
            </a:r>
            <a:r>
              <a:rPr b="1" i="0" lang="en-US" sz="13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~4 segundos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(requiere 2 secuencias válidas).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781050" y="2981325"/>
            <a:ext cx="10629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FLUJO DE DATOS</a:t>
            </a:r>
            <a:endParaRPr/>
          </a:p>
        </p:txBody>
      </p:sp>
      <p:pic>
        <p:nvPicPr>
          <p:cNvPr descr="image.png" id="330" name="Google Shape;330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00350" y="37099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53000" y="37099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05650" y="37099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58300" y="370998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ARQUITECTURA DEL PIPELINE EN VIVO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8437"/>
            <a:ext cx="2547937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738437"/>
            <a:ext cx="2547937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738437"/>
            <a:ext cx="2547937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738437"/>
            <a:ext cx="2547937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8"/>
          <p:cNvSpPr txBox="1"/>
          <p:nvPr/>
        </p:nvSpPr>
        <p:spPr>
          <a:xfrm>
            <a:off x="857250" y="307181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IDLE</a:t>
            </a:r>
            <a:endParaRPr/>
          </a:p>
        </p:txBody>
      </p:sp>
      <p:sp>
        <p:nvSpPr>
          <p:cNvPr id="345" name="Google Shape;345;p28"/>
          <p:cNvSpPr txBox="1"/>
          <p:nvPr/>
        </p:nvSpPr>
        <p:spPr>
          <a:xfrm>
            <a:off x="857250" y="3471862"/>
            <a:ext cx="197643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Estado de reposo. Esperando detección inicial.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3690937" y="307181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WARMING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3690937" y="3471862"/>
            <a:ext cx="19764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Warm-up de 15 frames para confirmar presencia real.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6524625" y="307181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ACTIVE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6524625" y="3471862"/>
            <a:ext cx="197643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Captura activa y extracción de secuencias.</a:t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9358312" y="307181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RESET</a:t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9358312" y="3471862"/>
            <a:ext cx="197643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Limpieza de buffers tras pérdida de rastro.</a:t>
            </a:r>
            <a:endParaRPr/>
          </a:p>
        </p:txBody>
      </p:sp>
      <p:sp>
        <p:nvSpPr>
          <p:cNvPr id="352" name="Google Shape;352;p2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LÓGICA DEL FSM TRACKER (4 ESTADOS)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7" name="Google Shape;3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8" name="Google Shape;358;p29"/>
          <p:cNvGraphicFramePr/>
          <p:nvPr/>
        </p:nvGraphicFramePr>
        <p:xfrm>
          <a:off x="571500" y="2786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{EAD853D4-E3EF-45E4-B3B1-6D6E63E5118D}</a:tableStyleId>
              </a:tblPr>
              <a:tblGrid>
                <a:gridCol w="4023275"/>
                <a:gridCol w="2961225"/>
                <a:gridCol w="4064500"/>
              </a:tblGrid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Latencia (ms)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Recurso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Detección (YOLOv11n)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~15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GPU (Ligero)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Segmentación (RVM)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~35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GPU (MobileNetV3)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Embedding (GaitBase)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~90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VRAM (27 MB Weights)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POR FRAME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~150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VRAM Pico: ~3.5 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59" name="Google Shape;359;p29"/>
          <p:cNvSpPr/>
          <p:nvPr/>
        </p:nvSpPr>
        <p:spPr>
          <a:xfrm>
            <a:off x="571500" y="3686175"/>
            <a:ext cx="4023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4594770" y="3686175"/>
            <a:ext cx="2961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7556003" y="3686175"/>
            <a:ext cx="4064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571500" y="4133850"/>
            <a:ext cx="4023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4594770" y="4133850"/>
            <a:ext cx="2961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7556003" y="4133850"/>
            <a:ext cx="4064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4581525"/>
            <a:ext cx="4023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4594770" y="4581525"/>
            <a:ext cx="2961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7556003" y="4581525"/>
            <a:ext cx="4064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571500" y="5029200"/>
            <a:ext cx="4023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4594770" y="5029200"/>
            <a:ext cx="2961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7556003" y="5029200"/>
            <a:ext cx="4064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ANÁLISIS DE LATENCIA Y RECURSOS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6" name="Google Shape;3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0"/>
          <p:cNvSpPr txBox="1"/>
          <p:nvPr/>
        </p:nvSpPr>
        <p:spPr>
          <a:xfrm>
            <a:off x="571500" y="470535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Open Sans"/>
                <a:ea typeface="Open Sans"/>
                <a:cs typeface="Open Sans"/>
                <a:sym typeface="Open Sans"/>
              </a:rPr>
              <a:t>¡Gracias por su atención!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571500" y="247650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Resultados Clave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6381750" y="247650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Próximos Pasos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904875" y="29432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Rank-1: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94.5%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904875" y="33718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TAR @ FAR=0%: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86.5%</a:t>
            </a: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904875" y="38004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Sistema no intrusivo y robusto.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6715125" y="29432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Optimización TensorRT (INT8).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6715125" y="33718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Base de datos SQL persistente.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6715125" y="38004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Soporte multicámara.</a:t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RESUMEN DE IMPACTO Y TRABAJO FUTURO</a:t>
            </a:r>
            <a:endParaRPr/>
          </a:p>
        </p:txBody>
      </p:sp>
      <p:pic>
        <p:nvPicPr>
          <p:cNvPr descr="image.png" id="387" name="Google Shape;38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43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71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00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943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371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8004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